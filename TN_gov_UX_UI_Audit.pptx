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E56A0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56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56A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56A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56A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F8A5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Info Architecture</c:v>
                  </c:pt>
                  <c:pt idx="1">
                    <c:v>Navigation &amp; Search</c:v>
                  </c:pt>
                  <c:pt idx="2">
                    <c:v>Visual / UI Design</c:v>
                  </c:pt>
                  <c:pt idx="3">
                    <c:v>Accessibility (WCAG)</c:v>
                  </c:pt>
                  <c:pt idx="4">
                    <c:v>Content Design</c:v>
                  </c:pt>
                  <c:pt idx="5">
                    <c:v>Mobile &amp; Responsive</c:v>
                  </c:pt>
                  <c:pt idx="6">
                    <c:v>Performance</c:v>
                  </c:pt>
                  <c:pt idx="7">
                    <c:v>Trust &amp; Transparency</c:v>
                  </c:pt>
                  <c:pt idx="8">
                    <c:v>Engagement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  <c:pt idx="6">
                  <c:v>5</c:v>
                </c:pt>
                <c:pt idx="7">
                  <c:v>7</c:v>
                </c:pt>
                <c:pt idx="8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F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E1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4A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840480" cy="3840480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4846320"/>
            <a:ext cx="3108960" cy="3108960"/>
          </a:xfrm>
          <a:prstGeom prst="ellipse">
            <a:avLst/>
          </a:prstGeom>
          <a:solidFill>
            <a:srgbClr val="1235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TAMIL NADU  ·  DIGITAL GOVERNANCE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&amp; UI Audit Report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tn.gov.in — State Portal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prove · Existing challenges · Prioritised recommendations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201168" cy="201168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42793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Blue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4343400"/>
            <a:ext cx="201168" cy="201168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1" name="Text 9"/>
          <p:cNvSpPr/>
          <p:nvPr/>
        </p:nvSpPr>
        <p:spPr>
          <a:xfrm>
            <a:off x="3904488" y="42793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· Progress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4343400"/>
            <a:ext cx="201168" cy="201168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3" name="Text 11"/>
          <p:cNvSpPr/>
          <p:nvPr/>
        </p:nvSpPr>
        <p:spPr>
          <a:xfrm>
            <a:off x="6967728" y="42793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Saffron · Achievement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80644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TN_CM_Citizen_Connect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14476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Chief Minister's Office initiative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METHOD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audited, and how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heuristic + standards-based review of the public homepage and primary journeys of tn.gov.in, benchmarked for the planned CM Citizen-Connect experience.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41448"/>
            <a:ext cx="548640" cy="548640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IA, global navigation, Documents / Services / Schemes hubs, Press Releases, accessibility toolbar, footer &amp; trust signals, mobile behaviour.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4290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441448"/>
            <a:ext cx="548640" cy="548640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5661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Nielsen's 10 usability heuristics · WCAG 2.2 AA · Govt of India GIGW 3.0 guidelines · mobile &amp; Core-Web-Vitals best practice.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4290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441448"/>
            <a:ext cx="548640" cy="548640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1089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35661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task-success and trust — can a resident find news, a scheme, a form or a grievance path quickly, in their language, on a phone?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findings are based on the public site as observed. No analytics or user-testing data was available; recommendations flag where such data should confirm.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TN_CM_Citizen_Connect  ·  UX/UI Audit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PROVE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hypotheses this audit tests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claims a citizen-first portal must be able to prove. Today the site meets some and falls short on others.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76856"/>
            <a:ext cx="384048" cy="384048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76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16712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Findable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2167128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 can reach any service, scheme or notice in ≤ 3 clicks or one search.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75520" y="2295144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0" y="229514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026664"/>
            <a:ext cx="384048" cy="384048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026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91693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2916936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reads clearly in Tamil and English, without jargon or scanned PDFs.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875520" y="304495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0" y="30449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48456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776472"/>
            <a:ext cx="384048" cy="384048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666744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840480" y="3666744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looks official, current and secure at a glance.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875520" y="37947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398264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4526280"/>
            <a:ext cx="384048" cy="384048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441655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Inclusive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840480" y="4416552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for low-vision, keyboard, screen-reader and low-bandwidth users.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875520" y="454456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9875520" y="45445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148072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9808" y="5276088"/>
            <a:ext cx="384048" cy="384048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" y="5276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25880" y="516636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840480" y="5166360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offers a clear next step — apply, download, contact, track.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875520" y="52943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9875520" y="529437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proven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TN_CM_Citizen_Connect  ·  UX/UI Audit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trusted, content-rich portal held back by dated UX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tn.gov.in is comprehensive and bilingual with a genuine accessibility toolbar — but heavy navigation, PDF/image-first content, weak search and an ageing visual system make everyday citizen tasks slow. The verdict: solid foundation, overdue for a citizen-first redesign.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15F"/>
          </a:solidFill>
          <a:ln w="12700">
            <a:solidFill>
              <a:srgbClr val="27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0720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</a:t>
            </a:r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/10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630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UX maturity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26060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15F"/>
          </a:solidFill>
          <a:ln w="12700">
            <a:solidFill>
              <a:srgbClr val="274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80720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703320" y="3630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top navigation bar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26060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15F"/>
          </a:solidFill>
          <a:ln w="12700">
            <a:solidFill>
              <a:srgbClr val="2747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80720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-first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629400" y="3630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G.O.s &amp; notices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26880" y="26060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15F"/>
          </a:solidFill>
          <a:ln w="12700">
            <a:solidFill>
              <a:srgbClr val="274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5480" y="280720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555480" y="3630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copyright in 2026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4782312"/>
            <a:ext cx="310896" cy="310896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7274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" y="523951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reach, accessibility toolbar, deep content coverage.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452628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53712" y="4782312"/>
            <a:ext cx="310896" cy="31089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47274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fast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53712" y="523951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navigation load, mobile ergonomics, stale trust signals.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0" y="452628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302752" y="4782312"/>
            <a:ext cx="310896" cy="310896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27" name="Text 25"/>
          <p:cNvSpPr/>
          <p:nvPr/>
        </p:nvSpPr>
        <p:spPr>
          <a:xfrm>
            <a:off x="8732520" y="47274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02752" y="523951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hub, scheme finder, grievance tracking, personalised feed.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TN_CM_Citizen_Connect  ·  UX/UI Audit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health by dimension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0–10 against usability heuristics, WCAG 2.2 AA and GIGW. Bars below 5 are the redesign priorities.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45236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85800" y="2103120"/>
          <a:ext cx="7178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75320" y="1965960"/>
            <a:ext cx="3337560" cy="4297680"/>
          </a:xfrm>
          <a:prstGeom prst="roundRect">
            <a:avLst>
              <a:gd name="adj" fmla="val 2466"/>
            </a:avLst>
          </a:prstGeom>
          <a:solidFill>
            <a:srgbClr val="0E2A55"/>
          </a:solidFill>
          <a:ln/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49640" y="221284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it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549640" y="2743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F8A5B"/>
          </a:solidFill>
          <a:ln/>
        </p:spPr>
      </p:sp>
      <p:sp>
        <p:nvSpPr>
          <p:cNvPr id="10" name="Text 7"/>
          <p:cNvSpPr/>
          <p:nvPr/>
        </p:nvSpPr>
        <p:spPr>
          <a:xfrm>
            <a:off x="8933688" y="2697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  Strength — protect it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549640" y="32461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56A0"/>
          </a:solidFill>
          <a:ln/>
        </p:spPr>
      </p:sp>
      <p:sp>
        <p:nvSpPr>
          <p:cNvPr id="12" name="Text 9"/>
          <p:cNvSpPr/>
          <p:nvPr/>
        </p:nvSpPr>
        <p:spPr>
          <a:xfrm>
            <a:off x="8933688" y="3200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 Adequate — refine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49640" y="37490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8933688" y="3703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 Priority — redesign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49640" y="4434840"/>
            <a:ext cx="2788920" cy="0"/>
          </a:xfrm>
          <a:prstGeom prst="line">
            <a:avLst/>
          </a:prstGeom>
          <a:noFill/>
          <a:ln w="12700">
            <a:solidFill>
              <a:srgbClr val="2747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457200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three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Search · Visual/UI · Mobile &amp; Engagement — the everyday citizen touchpoints.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TN_CM_Citizen_Connect  ·  UX/UI Audit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to protect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citizen-first redesign should preserve these — they are real assets, not to be lost in a visual refresh.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86000"/>
            <a:ext cx="384048" cy="384048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98448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by default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7157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+ English throughout, with the Tamil Thai Vazhthu anthem — strong cultural and inclusion signal.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286000"/>
            <a:ext cx="384048" cy="384048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7488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accessibility toolbar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26280" y="27157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Text-to-speech, text sizing, line height &amp; spacing, link highlight, invert/contrast and reset — beyond most state portals.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046720" y="205740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2286000"/>
            <a:ext cx="384048" cy="384048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96528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Screen-reader provision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75320" y="27157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screen-reader access page and W3C reference show intent toward standards.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886200"/>
            <a:ext cx="384048" cy="384048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content coverage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43159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G.O.s, policy notes, acts, schemes, forms, directories and district data all in one place.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297680" y="365760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3886200"/>
            <a:ext cx="384048" cy="384048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47488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govt taxonomy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26280" y="43159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Departments / Districts / Documents / Services is a logical top-level model.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046720" y="365760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75320" y="3886200"/>
            <a:ext cx="384048" cy="384048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796528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policy footer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275320" y="43159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Disclaimer, privacy, terms, FAQ and NIC ownership — the governance basics are present.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TN_CM_Citizen_Connect  ·  UX/UI Audit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1 OF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architecture &amp; navigation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logical but overloaded — nine top menus with deep dropdowns push scanning cost onto the citizen.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37744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774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48840" y="2212848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top-level menus, dense dropdowns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12848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overload; key tasks (grievance, schemes) compete with rarely-used links.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32841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32841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3163824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prominent site 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163824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must hunt through menus; findability collapses on a content-heavy portal.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05072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27939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27939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4114800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Base64-encoded URLs (e.g. ?cate_name=YWxs)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114800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Opaque, unshareable, non-SEO-friendly links reduce trust and discoverability.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56048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23036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4B10A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23036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5065776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Duplicated paths (menu vs. body tiles)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5065776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destinations repeated inconsistently, adding cognitive load.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TN_CM_Citizen_Connect  ·  UX/UI Audit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2 OF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design &amp; UI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reads as an early-2010s portal — carousels, tiny icons and flat hierarchy undercut the government-grade feel.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37744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774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48840" y="2212848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Ageing visual language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12848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auto-rotating carousels, small clip-art icons, weak type hierarchy and spacing.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32841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32841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3163824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information hierarchy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163824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competes for attention; no clear primary action or focal news moment.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05072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27939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4B10A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27939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4114800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components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114800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icon styles, button treatments and card shapes across sections.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56048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23036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4B10A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23036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5065776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Visitor-counter &amp; legacy widgets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5065776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patterns (hit counter, embedded tweets) weaken the premium, official impression.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TN_CM_Citizen_Connect  ·  UX/UI Audit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3 OF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(WCAG 2.2 AA)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toolbar is undermined by content that isn't machine-readable — the gap between intent and delivery is the core risk.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37744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774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48840" y="2212848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Scanned images as press releases / notices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12848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 scans carry no real text — invisible to screen readers, search and translation.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32841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32841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3163824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PDF-first forms &amp; G.O.s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163824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PDFs are untagged/scanned, failing keyboard and screen-reader access.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05072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27939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27939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4114800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 &amp; focus states unverified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114800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text, link-heavy pages and unclear keyboard focus risk AA failures.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56048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23036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4B10A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23036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5065776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Toolbar ≠ semantic fixes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5065776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controls help, but don't substitute for accessible underlying markup.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TN_CM_Citizen_Connect  ·  UX/UI Audit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4 OF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design &amp; findability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abundant but not designed for citizens — dense, English-leaning, document-dump patterns dominate.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37744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774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48840" y="2212848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Document-dump over task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12848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get lists of G.O.s/PDFs, not guided 'apply / check eligibility / track' journeys.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32841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32841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3163824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English-heavy body content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163824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present in chrome, but many documents and labels remain English-only.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05072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27939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4B10A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27939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4114800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plain-language summaries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114800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assume administrative literacy; no 30-second summaries or 'what this means for you'.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56048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23036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4B10A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23036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5065776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news/press surfacing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5065776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releases are image thumbnails with no headlines, dates as text, or filtering.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TN_CM_Citizen_Connect  ·  UX/UI Audit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5 OF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Mobile, performance &amp; trust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citizens arrive on a phone. Dense menus, carousels and heavy media strain the mobile and trust experience.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37744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774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48840" y="2212848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touch-optimised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12848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dropdowns, small tap targets and carousels are hard to use one-handed on a phone.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32841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32841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3163824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homepage payload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163824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carousels, images-of-text and embeds slow load on low bandwidth / older devices.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05072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27939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27939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4114800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 trust signals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114800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reads 'copyright 2024' in 2026; 'Last updated' and counters age the site instantly.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56048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23036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4B10A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23036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5065776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sub-domains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5065776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 scatter across many domains with differing look-and-feel, breaking continuity.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TN_CM_Citizen_Connect  ·  UX/UI Audit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vs. effort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start: high-impact, low-effort fixes (top-left) come first; large bets (top-right) are planned investments.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0" y="1874520"/>
            <a:ext cx="71780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 rot="16200000">
            <a:off x="640080" y="2011680"/>
            <a:ext cx="8229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5989320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64792" y="1993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64792" y="5669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83080" y="2011680"/>
            <a:ext cx="3451860" cy="1965960"/>
          </a:xfrm>
          <a:prstGeom prst="rect">
            <a:avLst/>
          </a:prstGeom>
          <a:solidFill>
            <a:srgbClr val="E7F4EE"/>
          </a:solidFill>
          <a:ln/>
        </p:spPr>
      </p:sp>
      <p:sp>
        <p:nvSpPr>
          <p:cNvPr id="11" name="Shape 9"/>
          <p:cNvSpPr/>
          <p:nvPr/>
        </p:nvSpPr>
        <p:spPr>
          <a:xfrm>
            <a:off x="5234940" y="2011680"/>
            <a:ext cx="3451860" cy="1965960"/>
          </a:xfrm>
          <a:prstGeom prst="rect">
            <a:avLst/>
          </a:prstGeom>
          <a:solidFill>
            <a:srgbClr val="FBF0DE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3080" y="3977640"/>
            <a:ext cx="3451860" cy="1965960"/>
          </a:xfrm>
          <a:prstGeom prst="rect">
            <a:avLst/>
          </a:prstGeom>
          <a:solidFill>
            <a:srgbClr val="F0F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234940" y="3977640"/>
            <a:ext cx="3451860" cy="19659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4" name="Shape 12"/>
          <p:cNvSpPr/>
          <p:nvPr/>
        </p:nvSpPr>
        <p:spPr>
          <a:xfrm>
            <a:off x="5234940" y="2011680"/>
            <a:ext cx="0" cy="3931920"/>
          </a:xfrm>
          <a:prstGeom prst="line">
            <a:avLst/>
          </a:prstGeom>
          <a:noFill/>
          <a:ln w="12700">
            <a:solidFill>
              <a:srgbClr val="CBD6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3080" y="3977640"/>
            <a:ext cx="6903720" cy="0"/>
          </a:xfrm>
          <a:prstGeom prst="line">
            <a:avLst/>
          </a:prstGeom>
          <a:noFill/>
          <a:ln w="12700">
            <a:solidFill>
              <a:srgbClr val="CBD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084832"/>
            <a:ext cx="32689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6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26380" y="2084832"/>
            <a:ext cx="32232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BETS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29230" y="2322576"/>
            <a:ext cx="164592" cy="164592"/>
          </a:xfrm>
          <a:prstGeom prst="ellipse">
            <a:avLst/>
          </a:prstGeom>
          <a:solidFill>
            <a:srgbClr val="1F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39542" y="2276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stale footer / dates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4117086" y="2125980"/>
            <a:ext cx="164592" cy="164592"/>
          </a:xfrm>
          <a:prstGeom prst="ellipse">
            <a:avLst/>
          </a:prstGeom>
          <a:solidFill>
            <a:srgbClr val="1F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7398" y="20802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site search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462272" y="2637130"/>
            <a:ext cx="164592" cy="164592"/>
          </a:xfrm>
          <a:prstGeom prst="ellipse">
            <a:avLst/>
          </a:prstGeom>
          <a:solidFill>
            <a:srgbClr val="1F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2584" y="259141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Real-text press releases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3771900" y="3108960"/>
            <a:ext cx="164592" cy="164592"/>
          </a:xfrm>
          <a:prstGeom prst="ellipse">
            <a:avLst/>
          </a:prstGeom>
          <a:solidFill>
            <a:srgbClr val="1F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82212" y="3063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top navigation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5981090" y="3069641"/>
            <a:ext cx="164592" cy="164592"/>
          </a:xfrm>
          <a:prstGeom prst="ellipse">
            <a:avLst/>
          </a:prstGeom>
          <a:solidFill>
            <a:srgbClr val="E67E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23690" y="3023921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/ de-PDF forms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7568946" y="2322576"/>
            <a:ext cx="164592" cy="164592"/>
          </a:xfrm>
          <a:prstGeom prst="ellipse">
            <a:avLst/>
          </a:prstGeom>
          <a:solidFill>
            <a:srgbClr val="E67E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1546" y="2276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redesign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7223760" y="3030322"/>
            <a:ext cx="164592" cy="164592"/>
          </a:xfrm>
          <a:prstGeom prst="ellipse">
            <a:avLst/>
          </a:prstGeom>
          <a:solidFill>
            <a:srgbClr val="E67E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98460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hub + scheme finder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4807458" y="4288536"/>
            <a:ext cx="164592" cy="164592"/>
          </a:xfrm>
          <a:prstGeom prst="ellipse">
            <a:avLst/>
          </a:prstGeom>
          <a:solidFill>
            <a:srgbClr val="1E5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7770" y="42428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URLs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671462" y="3698748"/>
            <a:ext cx="164592" cy="164592"/>
          </a:xfrm>
          <a:prstGeom prst="ellipse">
            <a:avLst/>
          </a:prstGeom>
          <a:solidFill>
            <a:srgbClr val="E67E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4062" y="36530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/ design system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3426714" y="4091940"/>
            <a:ext cx="164592" cy="164592"/>
          </a:xfrm>
          <a:prstGeom prst="ellipse">
            <a:avLst/>
          </a:prstGeom>
          <a:solidFill>
            <a:srgbClr val="1E5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37026" y="40462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carousels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9189720" y="2011680"/>
            <a:ext cx="2468880" cy="3931920"/>
          </a:xfrm>
          <a:prstGeom prst="roundRect">
            <a:avLst>
              <a:gd name="adj" fmla="val 3333"/>
            </a:avLst>
          </a:prstGeom>
          <a:solidFill>
            <a:srgbClr val="0E2A55"/>
          </a:solidFill>
          <a:ln/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418320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here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418320" y="2697480"/>
            <a:ext cx="2011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now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dates · add search · real-text news · trim nav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next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De-PDF forms · design system · mobile-first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hub · scheme finder · grievance tracking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TN_CM_Citizen_Connect  ·  UX/UI Audit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roadmap to citizen-first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so each phase ships visible value while building toward the CM Citizen-Connect experience.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40233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1F8A5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97480"/>
            <a:ext cx="3566160" cy="32004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768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trust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footer, dates &amp; 'last updated'</a:t>
            </a:r>
            <a:endParaRPr lang="en-US" sz="113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prominent global search</a:t>
            </a:r>
            <a:endParaRPr lang="en-US" sz="113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press releases as real text + headlines</a:t>
            </a:r>
            <a:endParaRPr lang="en-US" sz="113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top nav to 5–6 task-led groups</a:t>
            </a:r>
            <a:endParaRPr lang="en-US" sz="113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WCAG 2.2 audit + fixes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4297680" y="2148840"/>
            <a:ext cx="3566160" cy="40233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148840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1E56A0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2697480"/>
            <a:ext cx="3566160" cy="320040"/>
          </a:xfrm>
          <a:prstGeom prst="rect">
            <a:avLst/>
          </a:prstGeom>
          <a:solidFill>
            <a:srgbClr val="1E56A0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22768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53712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&amp; content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361188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TN_CM_Citizen_Connect design system</a:t>
            </a:r>
            <a:endParaRPr lang="en-US" sz="113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touch-optimised templates</a:t>
            </a:r>
            <a:endParaRPr lang="en-US" sz="113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De-PDF core forms; tag documents</a:t>
            </a:r>
            <a:endParaRPr lang="en-US" sz="113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+ Tamil-first summaries</a:t>
            </a:r>
            <a:endParaRPr lang="en-US" sz="113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Human-readable, shareable URLs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8046720" y="2148840"/>
            <a:ext cx="3566160" cy="40233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5400000">
              <a:srgbClr val="9FB0C9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2148840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E08A1E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0" y="2697480"/>
            <a:ext cx="3566160" cy="32004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2" name="Text 20"/>
          <p:cNvSpPr/>
          <p:nvPr/>
        </p:nvSpPr>
        <p:spPr>
          <a:xfrm>
            <a:off x="8302752" y="22768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02752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months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02752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&amp; engagement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21040" y="361188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citizen news hub</a:t>
            </a:r>
            <a:endParaRPr lang="en-US" sz="113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eligibility finder + apply</a:t>
            </a:r>
            <a:endParaRPr lang="en-US" sz="113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capture &amp; status tracking</a:t>
            </a:r>
            <a:endParaRPr lang="en-US" sz="113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 / project transparency dashboards</a:t>
            </a:r>
            <a:endParaRPr lang="en-US" sz="113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citizen assistant (multilingual)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TN_CM_Citizen_Connect  ·  UX/UI Audit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SUCCESS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prove the redesign worked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baseline now, then track these citizen-outcome metrics through each phase.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4315F"/>
          </a:solidFill>
          <a:ln w="12700">
            <a:solidFill>
              <a:srgbClr val="27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2219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85%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04672" y="29900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citizens complete a top task (find scheme, form, grievance) unaided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205740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4315F"/>
          </a:solidFill>
          <a:ln w="12700">
            <a:solidFill>
              <a:srgbClr val="2747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2219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53712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3 steps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53712" y="29900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one search to reach any service or notice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205740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4315F"/>
          </a:solidFill>
          <a:ln w="12700">
            <a:solidFill>
              <a:srgbClr val="27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22219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AA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02752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02752" y="29900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on core templates and key journeys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4315F"/>
          </a:solidFill>
          <a:ln w="12700">
            <a:solidFill>
              <a:srgbClr val="2747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8221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usable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" y="4114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pass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04672" y="45902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touch-first pass rate on phones; lower mobile bounce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365760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4315F"/>
          </a:solidFill>
          <a:ln w="12700">
            <a:solidFill>
              <a:srgbClr val="27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38221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Findability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53712" y="4114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exits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53712" y="45902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zero-result and abandoned searches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365760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4315F"/>
          </a:solidFill>
          <a:ln w="12700">
            <a:solidFill>
              <a:srgbClr val="2747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38221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CSAT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02752" y="4114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score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302752" y="45902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satisfaction and 'looks current / official' ratings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TN_CM_Citizen_Connect  ·  UX/UI Audit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480560"/>
            <a:ext cx="4023360" cy="4023360"/>
          </a:xfrm>
          <a:prstGeom prst="ellipse">
            <a:avLst/>
          </a:prstGeom>
          <a:solidFill>
            <a:srgbClr val="12356B"/>
          </a:solidFill>
          <a:ln/>
        </p:spPr>
      </p:sp>
      <p:sp>
        <p:nvSpPr>
          <p:cNvPr id="3" name="Shape 1"/>
          <p:cNvSpPr/>
          <p:nvPr/>
        </p:nvSpPr>
        <p:spPr>
          <a:xfrm>
            <a:off x="10180015" y="-1463040"/>
            <a:ext cx="3657600" cy="3657600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 official archive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citizen's daily companion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content, trust and bilingual foundation already exist. Fixing findability, mobile ergonomics and freshness — then layering the CM Citizen-Connect news, schemes and grievance experience — turns tn.gov.in into a portal citizens choose to open.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892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0–3 month 'Now' list, set the baseline metrics, and stand up the TN_CM_Citizen_Connect design system.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21792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TN_CM_Citizen_Connect  ·  UX/UI Audit  ·  July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UX/UI Audit — tn.gov.in (TN_CM_Citizen_Connect)</dc:title>
  <dc:subject>PptxGenJS Presentation</dc:subject>
  <dc:creator>Cowork UX Audit</dc:creator>
  <cp:lastModifiedBy>Cowork UX Audit</cp:lastModifiedBy>
  <cp:revision>1</cp:revision>
  <dcterms:created xsi:type="dcterms:W3CDTF">2026-07-13T09:46:11Z</dcterms:created>
  <dcterms:modified xsi:type="dcterms:W3CDTF">2026-07-13T09:46:11Z</dcterms:modified>
</cp:coreProperties>
</file>